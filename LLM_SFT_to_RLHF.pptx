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400" b="1" i="0">
                <a:solidFill>
                  <a:srgbClr val="1F3A68"/>
                </a:solidFill>
                <a:latin typeface="Malgun Gothic"/>
              </a:rPr>
              <a:t>LLM 심화입문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0" i="0">
                <a:solidFill>
                  <a:srgbClr val="2B5FA9"/>
                </a:solidFill>
                <a:latin typeface="Malgun Gothic"/>
              </a:rPr>
              <a:t>Fine-Tuning 에서 RLHF 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2286000" cy="4572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Malgun Gothic"/>
              </a:rPr>
              <a:t>Pretrained 이후의 파이프라인: SFT → Reward Model → PPO → DPO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algun Gothic"/>
              </a:rPr>
              <a:t>AI/ML 스터디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발표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Malgun Gothic"/>
              </a:rPr>
              <a:t>Pretrained LLM이 어떻게 "쓸 수 있는 모델"로 변하는지, Fine-Tuning 이후 파이프라인을 깊이 있게 전달합니다.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Malgun Gothic"/>
              </a:rPr>
              <a:t>Pretraining 은 이미 완료된 단계로 가정하고, SFT → RLHF 의 목적과 방법에 집중합니다.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오늘 다룰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20116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2B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5FA9"/>
                </a:solidFill>
                <a:latin typeface="Malgun Gothic"/>
              </a:rPr>
              <a:t>Pretrained LM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4434840"/>
            <a:ext cx="320040" cy="274320"/>
          </a:xfrm>
          <a:prstGeom prst="rightArrow">
            <a:avLst/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4114800"/>
            <a:ext cx="20116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A68"/>
                </a:solidFill>
                <a:latin typeface="Malgun Gothic"/>
              </a:rPr>
              <a:t>SFT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4434840"/>
            <a:ext cx="320040" cy="274320"/>
          </a:xfrm>
          <a:prstGeom prst="rightArrow">
            <a:avLst/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4114800"/>
            <a:ext cx="20116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A68"/>
                </a:solidFill>
                <a:latin typeface="Malgun Gothic"/>
              </a:rPr>
              <a:t>Reward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52360" y="4434840"/>
            <a:ext cx="320040" cy="274320"/>
          </a:xfrm>
          <a:prstGeom prst="rightArrow">
            <a:avLst/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4114800"/>
            <a:ext cx="20116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A68"/>
                </a:solidFill>
                <a:latin typeface="Malgun Gothic"/>
              </a:rPr>
              <a:t>PPO (RLHF)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29800" y="4434840"/>
            <a:ext cx="320040" cy="274320"/>
          </a:xfrm>
          <a:prstGeom prst="rightArrow">
            <a:avLst/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49840" y="4114800"/>
            <a:ext cx="20116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2B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5FA9"/>
                </a:solidFill>
                <a:latin typeface="Malgun Gothic"/>
              </a:rPr>
              <a:t>정렬된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RLHF 풀 파이프라인 — 수식 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algun Gothic"/>
              </a:rPr>
              <a:t>이 한 장에 등장하는 모든 수식이 이후 슬라이드에서 차례대로 등장합니다.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960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B5FA9"/>
                </a:solidFill>
                <a:latin typeface="Malgun Gothic"/>
              </a:rPr>
              <a:t>SFT (Supervised Fine-Tuning)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9601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Malgun Gothic"/>
              </a:rPr>
              <a:t>demonstration likelihood 최대화</a:t>
            </a:r>
          </a:p>
        </p:txBody>
      </p:sp>
      <p:pic>
        <p:nvPicPr>
          <p:cNvPr id="8" name="Picture 7" descr="s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2103120"/>
            <a:ext cx="8686800" cy="9316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2743200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97480"/>
            <a:ext cx="960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B5FA9"/>
                </a:solidFill>
                <a:latin typeface="Malgun Gothic"/>
              </a:rPr>
              <a:t>Reward Model — Bradley-Terry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63240"/>
            <a:ext cx="9601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Malgun Gothic"/>
              </a:rPr>
              <a:t>선호 데이터에서 reward 학습</a:t>
            </a:r>
          </a:p>
        </p:txBody>
      </p:sp>
      <p:pic>
        <p:nvPicPr>
          <p:cNvPr id="12" name="Picture 11" descr="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3429000"/>
            <a:ext cx="10058400" cy="6087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4069080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Stage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23360"/>
            <a:ext cx="960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B5FA9"/>
                </a:solidFill>
                <a:latin typeface="Malgun Gothic"/>
              </a:rPr>
              <a:t>PPO with KL 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89120"/>
            <a:ext cx="9601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Malgun Gothic"/>
              </a:rPr>
              <a:t>Reward 최대화 + π_ref 에서 멀어지지 않게</a:t>
            </a:r>
          </a:p>
        </p:txBody>
      </p:sp>
      <p:pic>
        <p:nvPicPr>
          <p:cNvPr id="16" name="Picture 15" descr="p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847" y="4754880"/>
            <a:ext cx="9144000" cy="85496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8640" y="5394960"/>
            <a:ext cx="109728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Bonus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960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B5FA9"/>
                </a:solidFill>
                <a:latin typeface="Malgun Gothic"/>
              </a:rPr>
              <a:t>DPO (Direct Preference Optimization)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715000"/>
            <a:ext cx="9601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Malgun Gothic"/>
              </a:rPr>
              <a:t>RM 없이 한 번에 정렬</a:t>
            </a:r>
          </a:p>
        </p:txBody>
      </p:sp>
      <p:pic>
        <p:nvPicPr>
          <p:cNvPr id="20" name="Picture 19" descr="d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" y="6080760"/>
            <a:ext cx="10515600" cy="8974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배경: Pretrained LLM 은 무엇을 할 수 있나?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Pretrained 모델의 본질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인터넷 텍스트로 "다음 토큰 예측" 을 학습한 상태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언어 패턴은 알지만, 사람의 지시를 따르거나 대화하는 법은 모름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이 갭을 메우는 것이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구체적 예시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/>
            <a:r>
              <a:rPr sz="1500" b="1">
                <a:solidFill>
                  <a:srgbClr val="1F3A68"/>
                </a:solidFill>
                <a:latin typeface="Malgun Gothic"/>
              </a:rPr>
              <a:t>사용자 입력: </a:t>
            </a:r>
            <a:r>
              <a:rPr sz="1500">
                <a:solidFill>
                  <a:srgbClr val="212121"/>
                </a:solidFill>
                <a:latin typeface="Malgun Gothic"/>
              </a:rPr>
              <a:t>"한국의 수도는?"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B5FA9"/>
                </a:solidFill>
                <a:latin typeface="Malgun Gothic"/>
              </a:rPr>
              <a:t>Pretrained 모델 응답 (질문 완성 모드): </a:t>
            </a:r>
            <a:r>
              <a:rPr sz="1500" i="1">
                <a:solidFill>
                  <a:srgbClr val="212121"/>
                </a:solidFill>
                <a:latin typeface="Malgun Gothic"/>
              </a:rPr>
              <a:t>"어디인가? 어떤 도시인가? 인구는 얼마인가?..."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B5FA9"/>
                </a:solidFill>
                <a:latin typeface="Malgun Gothic"/>
              </a:rPr>
              <a:t>Instruction-tuned 모델 응답: </a:t>
            </a:r>
            <a:r>
              <a:rPr sz="1500">
                <a:solidFill>
                  <a:srgbClr val="212121"/>
                </a:solidFill>
                <a:latin typeface="Malgun Gothic"/>
              </a:rPr>
              <a:t>"서울입니다."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SFT (Supervised Fine-Tuning) — 왜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핵심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Pretrained 모델은 "다음 토큰 예측기"일 뿐, 지시를 따르거나 대화하도록 학습되지 않음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사람의 instruction 형식에 노출되어 본 적이 없음 → 동작 방식을 모름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학습 데이터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9728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(instruction, response) 쌍으로 구성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    –  InstructGPT 는 약 13K 개의 사람이 작성한 데이터로 시작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    –  최근에는 AI-generated 데이터 (Self-Instruct, Evol-Instruct) 도 활용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예시: {"instruction": "한국의 수도는?", "response": "서울입니다."}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SFT — 학습 목적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Pretraining 과 동일한 Cross-Entropy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1280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단, instruction 부분은 마스킹하고 response 부분만 Loss 계산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→ 모델이 "질문을 생성"하지 않고, "답변을 생성"하도록 학습됨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3304442"/>
            <a:ext cx="9144000" cy="980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직관적 해석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9728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•  response 토큰의 likelihood 를 최대화 → 정답 응답에 가까운 출력 분포 형성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•  Pretraining 의 "모든 토큰" vs SFT 의 "response 만" 이 핵심 차이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•  라벨에 -100 을 채워 PyTorch cross_entropy 가 자동으로 무시 (표준 트릭)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SFT 의 한계 — 왜 RLHF 가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SFT 만으로는 부족한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2468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사람이 선호하는 응답 vs 모델이 생성하는 응답 사이에 갭이 남음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"정확하지만 딱딱한" 답변, "안전하지만 쓸모없는" 답변 등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SFT 는 demonstration 을 따라하지만, "좋은 응답" 의 미묘한 결을 학습하기 어려움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정답이 여러 개일 때 (e.g. 글쓰기 스타일) demonstration 1 개에 묶이는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→ 다음 단계의 동기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"이 응답이 저 응답보다 낫다" 라는 사람의 선호 신호를 학습 시그널로 사용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이를 위해 RLHF 의 3 단계 파이프라인이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일반 RL  vs  RLHF — 같은 점, 다른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RL 의 표준 목적 함수 (공통)</a:t>
            </a:r>
          </a:p>
        </p:txBody>
      </p:sp>
      <p:pic>
        <p:nvPicPr>
          <p:cNvPr id="5" name="Picture 4" descr="rl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17320"/>
            <a:ext cx="7772400" cy="1823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주요 차이점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2103120" cy="347472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</a:rPr>
              <a:t>일반 RL (Atari, MuJoCo)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926080"/>
            <a:ext cx="3474720" cy="347472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0" y="2926080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</a:rPr>
              <a:t>일반 RL (Atari, MuJoCo)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26080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</a:rPr>
              <a:t>RLHF (LLM)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26080"/>
            <a:ext cx="5303520" cy="347472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</a:rPr>
              <a:t>RLHF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환경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73552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시뮬레이터 / 게임 / 로봇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73552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언어 생성 (텍스트 시퀀스)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21024"/>
            <a:ext cx="11064239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4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State $s$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21024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픽셀 / 물리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21024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지금까지 생성된 토큰 시퀀스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68496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Action $a$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68496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조이스틱 / 토크 / 가속도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68496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다음 토큰 (vocab 한 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1064239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15968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Reward $r$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315968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환경에서 명시적 (점수, 도달)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315968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학습된 함수 $r_\phi$ (사람 선호)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63440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Reward 시점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663440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매 step (dense)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63440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시퀀스 끝에 한 번 (sparse)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10912"/>
            <a:ext cx="11064239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Discount $\gamma$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010912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0.9 ~ 0.99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10912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≈ 1.0 (시퀀스 짧음)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58384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Sample 수집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358384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환경에서 자유롭게 빠르게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358384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비싼 LLM rollout, 메모리 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705856"/>
            <a:ext cx="11064239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05856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Reference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705856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705856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$\pi_{\mathrm{ref}}$ 필수 (KL 제약)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053328"/>
            <a:ext cx="21031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 b="1">
                <a:solidFill>
                  <a:srgbClr val="14284B"/>
                </a:solidFill>
                <a:latin typeface="Malgun Gothic"/>
              </a:rPr>
              <a:t>주요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6053328"/>
            <a:ext cx="34747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수렴 불안정 / 탐험 부족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053328"/>
            <a:ext cx="53035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r>
              <a:rPr sz="1200">
                <a:solidFill>
                  <a:srgbClr val="212121"/>
                </a:solidFill>
                <a:latin typeface="Malgun Gothic"/>
              </a:rPr>
              <a:t>+ Reward Hacking (학습 reward 악용)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RLHF — Reinforcement Learning from Human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0" cy="1005840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300" b="1">
                <a:solidFill>
                  <a:srgbClr val="8B2A2A"/>
                </a:solidFill>
                <a:latin typeface="Malgun Gothic"/>
              </a:rPr>
              <a:t>[Warning]  RLHF 파트는 난이도가 높습니다.  아래 3 단계 구조와 직관적 설명에 집중하세요.  PPO 의 수학적 디테일은 시간이 되면 다루고, 안 되면 개념적 설명만으로도 충분합니다.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3 단계 구조 한눈에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868680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1" i="0">
                <a:solidFill>
                  <a:srgbClr val="2B5FA9"/>
                </a:solidFill>
                <a:latin typeface="Malgun Gothic"/>
              </a:rPr>
              <a:t>Reward Model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703320"/>
            <a:ext cx="9144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Malgun Gothic"/>
              </a:rPr>
              <a:t>사람 선호 데이터로 응답에 점수 매기는 함수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5196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51960"/>
            <a:ext cx="868680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1" i="0">
                <a:solidFill>
                  <a:srgbClr val="2B5FA9"/>
                </a:solidFill>
                <a:latin typeface="Malgun Gothic"/>
              </a:rPr>
              <a:t>PPO 로 Policy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54880"/>
            <a:ext cx="9144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Malgun Gothic"/>
              </a:rPr>
              <a:t>SFT 모델을 초기 policy 로, Reward 최대화 + KL 제약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035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303520"/>
            <a:ext cx="8686800" cy="5029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1" i="0">
                <a:solidFill>
                  <a:srgbClr val="2B5FA9"/>
                </a:solidFill>
                <a:latin typeface="Malgun Gothic"/>
              </a:rPr>
              <a:t>KL Divergence 제약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806440"/>
            <a:ext cx="9144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Malgun Gothic"/>
              </a:rPr>
              <a:t>원본 SFT 에서 너무 멀어지지 않게 → Reward Hacking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Step 1.  Reward Model 학습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1554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같은 prompt 에 대해 모델이 2 개 응답 생성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사람이 선호도 판단  →  y_w (chosen, win) &gt; y_l (lose)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212121"/>
                </a:solidFill>
                <a:latin typeface="Malgun Gothic"/>
              </a:rPr>
              <a:t>•  Bradley-Terry 모델로 선호 확률을 모델링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Bradley-Terry 선호 확률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94760"/>
            <a:ext cx="941832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884441"/>
            <a:ext cx="7772400" cy="5978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Reward Model 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333003"/>
            <a:ext cx="9601200" cy="581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Step 2.  PPO 를 이용한 Policy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기본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SFT 모델을 초기 policy $\pi_\theta$ 로 사용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Reward Model $r_\phi$ 의 점수를 최대화하도록 policy 를 업데이트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단, 원래 SFT 모델 $\pi_{\mathrm{ref}}$ 에서 너무 멀어지지 않게 KL 제약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핵심 목적 함수 (KL 제약 포함)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123141"/>
            <a:ext cx="9601200" cy="897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PPO Clipped Surrogate (구현 형태)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ppo_c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751584"/>
            <a:ext cx="10058400" cy="566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Step 3.  KL Divergence 제약의 의미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왜 KL penalty 가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•  KL 제약 없으면 모델이 Reward Model 을 "해킹"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    –  높은 점수를 받지만 의미없는 텍스트를 생성 = Reward Hacking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    –  예: 특정 키워드 남발, 무의미하게 긴 응답, 칭찬-편향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212121"/>
                </a:solidFill>
                <a:latin typeface="Malgun Gothic"/>
              </a:rPr>
              <a:t>•  KL penalty 는 업데이트된 모델이 원래 SFT 모델에서 너무 멀어지지 않도록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KL Divergence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434840"/>
            <a:ext cx="941832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4329817"/>
            <a:ext cx="7772400" cy="10330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β 의 의미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972800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212121"/>
                </a:solidFill>
                <a:latin typeface="Malgun Gothic"/>
              </a:rPr>
              <a:t>•  β 작음  →  Reward 를 빡세게 추구. 모델이 이상해질 위험 ↑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212121"/>
                </a:solidFill>
                <a:latin typeface="Malgun Gothic"/>
              </a:rPr>
              <a:t>•  β 큼     →  SFT 에서 거의 못 떠남. 정렬 효과 ↓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212121"/>
                </a:solidFill>
                <a:latin typeface="Malgun Gothic"/>
              </a:rPr>
              <a:t>•  실무 표준: β ≈ 0.01 ~ 0.2 사이로 튜닝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최신 동향 (보너스):  DPO  —  Reward Model 없이 직접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DPO 의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9728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Reward Model 학습 없이, 선호 데이터에서 직접 정책을 최적화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RLHF 의 KL-constrained reward maximization 해를 수학적으로 변형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    –  → supervised learning 형태의 loss 로 정확히 reduce 됨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212121"/>
                </a:solidFill>
                <a:latin typeface="Malgun Gothic"/>
              </a:rPr>
              <a:t>•  RM + PPO 의 복잡함을 한 줄짜리 loss 로 대체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2B5FA9"/>
                </a:solidFill>
                <a:latin typeface="Malgun Gothic"/>
              </a:rPr>
              <a:t>DPO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88136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717611"/>
            <a:ext cx="10515600" cy="8974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Malgun Gothic"/>
              </a:rPr>
              <a:t>→ 메모리 절약 (RM, critic 불필요), 학습 안정성 ↑, 1B~7B 소규모 모델에 특히 인기.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48640"/>
          </a:xfrm>
          <a:prstGeom prst="roundRect">
            <a:avLst>
              <a:gd name="adj" fmla="val 40000"/>
            </a:avLst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추천 참고자료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Malgun Gothic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Ouyang et al.,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503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4284B"/>
                </a:solidFill>
                <a:latin typeface="Malgun Gothic"/>
              </a:rPr>
              <a:t>Training language models to follow instructions  (InstructGPT)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74519"/>
            <a:ext cx="8503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algun Gothic"/>
              </a:rPr>
              <a:t>OpenAI 의 RLHF 풀 파이프라인 — SFT, RM, PPO 의 표준 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Rafailov et al.,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8503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4284B"/>
                </a:solidFill>
                <a:latin typeface="Malgun Gothic"/>
              </a:rPr>
              <a:t>Direct Preference Optimization  (DPO)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63239"/>
            <a:ext cx="8503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algun Gothic"/>
              </a:rPr>
              <a:t>RM 없이 한 번에 정렬하는 방법 — 1B~7B 모델 정렬의 사실상 표준.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Ziegler et al.,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49039"/>
            <a:ext cx="8503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4284B"/>
                </a:solidFill>
                <a:latin typeface="Malgun Gothic"/>
              </a:rPr>
              <a:t>Fine-Tuning Language Models from Human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51959"/>
            <a:ext cx="8503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algun Gothic"/>
              </a:rPr>
              <a:t>LLM 에 RLHF 를 처음 적용한 OpenAI 초기 논문 — 역사적 출발점.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59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B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Lilian Weng Blog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937759"/>
            <a:ext cx="8503920" cy="4572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500" b="1" i="0">
                <a:solidFill>
                  <a:srgbClr val="14284B"/>
                </a:solidFill>
                <a:latin typeface="Malgun Gothic"/>
              </a:rPr>
              <a:t>LLM Alignment  —  RLHF 전체 파이프라인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440679"/>
            <a:ext cx="85039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algun Gothic"/>
              </a:rPr>
              <a:t>수식부터 직관까지 한 글로 정리된 정주행 추천 자료.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